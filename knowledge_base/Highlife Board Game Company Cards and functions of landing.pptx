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61"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2D88CC-F97C-47CA-BD15-8C3993C74417}" v="27" dt="2026-07-26T22:36:59.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46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7811B-3DB9-9A6B-F158-418C85EF20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056E9E9-5AFB-36C4-B49C-DECC488F56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A2ED0E1-E981-0113-E4E8-2F507EC66E5C}"/>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5" name="Footer Placeholder 4">
            <a:extLst>
              <a:ext uri="{FF2B5EF4-FFF2-40B4-BE49-F238E27FC236}">
                <a16:creationId xmlns:a16="http://schemas.microsoft.com/office/drawing/2014/main" id="{4C144050-D98B-E467-100C-F141F8259B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3EFA35-9DE1-926B-5AA1-5533E4E8BEBB}"/>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383389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FB95-F4DD-7CF8-9D54-58277EA60E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C98332-D357-D495-625F-4FACE5F967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BCDCAEF-3EC1-E46B-339F-FC13DC39354B}"/>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5" name="Footer Placeholder 4">
            <a:extLst>
              <a:ext uri="{FF2B5EF4-FFF2-40B4-BE49-F238E27FC236}">
                <a16:creationId xmlns:a16="http://schemas.microsoft.com/office/drawing/2014/main" id="{8CCB823D-FDA7-4528-898E-134990984D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EA6DE0-3506-0D75-9210-BB1456D4FC2D}"/>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3681170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08A41-3454-8755-AE40-5833122336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FF37393-F81D-75E6-5F0E-9D25A268E3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95781E-612B-D9F5-093C-515F98A600E9}"/>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5" name="Footer Placeholder 4">
            <a:extLst>
              <a:ext uri="{FF2B5EF4-FFF2-40B4-BE49-F238E27FC236}">
                <a16:creationId xmlns:a16="http://schemas.microsoft.com/office/drawing/2014/main" id="{702A5CB5-0D8E-02CB-8398-FA936F551F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279980-3291-8232-32FB-EA352CDD927D}"/>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198010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F68C-116D-B7DC-45DD-F9381EB651C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6C4E882-C1B7-3658-CBE9-DB93F4E2A4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465DBCB-B60C-45BF-444A-9F4C981171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EB1C92F-9C0B-9D83-7D7D-AA39B8F8BECD}"/>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6" name="Footer Placeholder 5">
            <a:extLst>
              <a:ext uri="{FF2B5EF4-FFF2-40B4-BE49-F238E27FC236}">
                <a16:creationId xmlns:a16="http://schemas.microsoft.com/office/drawing/2014/main" id="{A500489C-0129-FEFB-3F4C-538CF312B1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C706342-11DA-6B56-D9D7-BF8D9A5BA4CA}"/>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1675784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D69B7-ADF4-4870-2952-668EC395225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6EAF5C9-F314-548D-946C-80B24C0A45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2F2F18-AD6B-244E-498E-D4345391ED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42596A6-635C-5398-59E2-E10B23129C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E7D80E-508D-A366-328D-65287108C2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5B4974A-5930-4814-DE3A-72E51F9EA801}"/>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8" name="Footer Placeholder 7">
            <a:extLst>
              <a:ext uri="{FF2B5EF4-FFF2-40B4-BE49-F238E27FC236}">
                <a16:creationId xmlns:a16="http://schemas.microsoft.com/office/drawing/2014/main" id="{3CEFA0B7-D7E6-47DB-CA15-EF63F6AEE23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11C4834-6663-FDE9-AA31-F14D9E1CC0AD}"/>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3330942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90FE1-EA62-F91A-0D52-5CAD73CD1B9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E7CCA03-14B5-7D30-36FF-E7ECC49A4B66}"/>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4" name="Footer Placeholder 3">
            <a:extLst>
              <a:ext uri="{FF2B5EF4-FFF2-40B4-BE49-F238E27FC236}">
                <a16:creationId xmlns:a16="http://schemas.microsoft.com/office/drawing/2014/main" id="{BFEEF0F5-256E-F6E5-05B7-723495455BD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7DD675E-61D5-1DE4-9B50-091BA117FFEE}"/>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1010504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375C9F-8876-1C25-8F89-1D77E829B638}"/>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3" name="Footer Placeholder 2">
            <a:extLst>
              <a:ext uri="{FF2B5EF4-FFF2-40B4-BE49-F238E27FC236}">
                <a16:creationId xmlns:a16="http://schemas.microsoft.com/office/drawing/2014/main" id="{AF20D194-F794-0A25-07FA-53D074F8E6C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190EE3C-0404-C2BA-ED77-D876260F6E8B}"/>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4215503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E198-C1B4-D636-51CC-1A5404B6B3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E94A8CB-7EE7-76C8-A15F-9D65BE253B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74F5CB0-8A51-DA96-07A0-A04B1FF3F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821E78-F6D3-2E12-B4F0-FEEB300DA7D0}"/>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6" name="Footer Placeholder 5">
            <a:extLst>
              <a:ext uri="{FF2B5EF4-FFF2-40B4-BE49-F238E27FC236}">
                <a16:creationId xmlns:a16="http://schemas.microsoft.com/office/drawing/2014/main" id="{D9813274-1894-3532-FBA9-633318A22A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D8B223-3037-3277-B892-C2A82E5DD140}"/>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3913245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CAE82-4664-580D-4C2F-911A5C396A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711CC96-B7BD-9BF9-EAE2-A0E0CEF2F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905E6ED-0B8C-45F9-797F-E147D6CD89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584D71-9873-957B-31EA-F89E17FD3F1E}"/>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6" name="Footer Placeholder 5">
            <a:extLst>
              <a:ext uri="{FF2B5EF4-FFF2-40B4-BE49-F238E27FC236}">
                <a16:creationId xmlns:a16="http://schemas.microsoft.com/office/drawing/2014/main" id="{E2159DA0-FA63-D469-72B5-49BD1593774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EE7A5F-8B9B-4D50-77E1-0016F3347F52}"/>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1839627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2AB51-7C40-8CC0-49D7-341B311244A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45A4131-A8D0-84AD-8228-7C611108C3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247D552-2FF7-19F4-C173-346B5AFFF21E}"/>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5" name="Footer Placeholder 4">
            <a:extLst>
              <a:ext uri="{FF2B5EF4-FFF2-40B4-BE49-F238E27FC236}">
                <a16:creationId xmlns:a16="http://schemas.microsoft.com/office/drawing/2014/main" id="{ACC46EBF-0287-2C4E-2FAD-25A1A19F33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C38B2A-A776-4671-0BF7-F0B16AA7C490}"/>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3336008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90FE7E-212A-9547-91EE-58D9B69669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7E52E8-C622-26A4-EA6A-1223F87B91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CA8491-49B5-A249-56EF-945858308559}"/>
              </a:ext>
            </a:extLst>
          </p:cNvPr>
          <p:cNvSpPr>
            <a:spLocks noGrp="1"/>
          </p:cNvSpPr>
          <p:nvPr>
            <p:ph type="dt" sz="half" idx="10"/>
          </p:nvPr>
        </p:nvSpPr>
        <p:spPr/>
        <p:txBody>
          <a:bodyPr/>
          <a:lstStyle/>
          <a:p>
            <a:fld id="{03EC2AEF-D668-4449-8CBD-5BD48FCC6DD7}" type="datetimeFigureOut">
              <a:rPr lang="en-GB" smtClean="0"/>
              <a:t>27/07/2026</a:t>
            </a:fld>
            <a:endParaRPr lang="en-GB"/>
          </a:p>
        </p:txBody>
      </p:sp>
      <p:sp>
        <p:nvSpPr>
          <p:cNvPr id="5" name="Footer Placeholder 4">
            <a:extLst>
              <a:ext uri="{FF2B5EF4-FFF2-40B4-BE49-F238E27FC236}">
                <a16:creationId xmlns:a16="http://schemas.microsoft.com/office/drawing/2014/main" id="{FADB714E-93D7-9AA7-99B0-051E8D0118D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7983A5-CFCE-0F7C-AA1C-ED70EC7E92B1}"/>
              </a:ext>
            </a:extLst>
          </p:cNvPr>
          <p:cNvSpPr>
            <a:spLocks noGrp="1"/>
          </p:cNvSpPr>
          <p:nvPr>
            <p:ph type="sldNum" sz="quarter" idx="12"/>
          </p:nvPr>
        </p:nvSpPr>
        <p:spPr/>
        <p:txBody>
          <a:bodyPr/>
          <a:lstStyle/>
          <a:p>
            <a:fld id="{9D56F7BA-6B8F-4B9F-836C-FE81977C3C75}" type="slidenum">
              <a:rPr lang="en-GB" smtClean="0"/>
              <a:t>‹#›</a:t>
            </a:fld>
            <a:endParaRPr lang="en-GB"/>
          </a:p>
        </p:txBody>
      </p:sp>
    </p:spTree>
    <p:extLst>
      <p:ext uri="{BB962C8B-B14F-4D97-AF65-F5344CB8AC3E}">
        <p14:creationId xmlns:p14="http://schemas.microsoft.com/office/powerpoint/2010/main" val="1066848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FABDB-8984-202A-C44C-5D5730B1B4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137EC02-E697-4783-DC8C-1160BCE48D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38F3D0-CBA5-1CF1-E048-52DB59C81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EC2AEF-D668-4449-8CBD-5BD48FCC6DD7}" type="datetimeFigureOut">
              <a:rPr lang="en-GB" smtClean="0"/>
              <a:t>27/07/2026</a:t>
            </a:fld>
            <a:endParaRPr lang="en-GB"/>
          </a:p>
        </p:txBody>
      </p:sp>
      <p:sp>
        <p:nvSpPr>
          <p:cNvPr id="5" name="Footer Placeholder 4">
            <a:extLst>
              <a:ext uri="{FF2B5EF4-FFF2-40B4-BE49-F238E27FC236}">
                <a16:creationId xmlns:a16="http://schemas.microsoft.com/office/drawing/2014/main" id="{B31FA0D1-E08F-6C58-1803-066845D437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42E4408-BC96-017C-C9B4-4BEB34BEBD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56F7BA-6B8F-4B9F-836C-FE81977C3C75}" type="slidenum">
              <a:rPr lang="en-GB" smtClean="0"/>
              <a:t>‹#›</a:t>
            </a:fld>
            <a:endParaRPr lang="en-GB"/>
          </a:p>
        </p:txBody>
      </p:sp>
    </p:spTree>
    <p:extLst>
      <p:ext uri="{BB962C8B-B14F-4D97-AF65-F5344CB8AC3E}">
        <p14:creationId xmlns:p14="http://schemas.microsoft.com/office/powerpoint/2010/main" val="2285071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jpg"/><Relationship Id="rId11" Type="http://schemas.openxmlformats.org/officeDocument/2006/relationships/image" Target="../media/image10.jpg"/><Relationship Id="rId5" Type="http://schemas.openxmlformats.org/officeDocument/2006/relationships/image" Target="../media/image4.jpg"/><Relationship Id="rId10" Type="http://schemas.openxmlformats.org/officeDocument/2006/relationships/image" Target="../media/image9.jpg"/><Relationship Id="rId4" Type="http://schemas.openxmlformats.org/officeDocument/2006/relationships/image" Target="../media/image3.jpg"/><Relationship Id="rId9" Type="http://schemas.openxmlformats.org/officeDocument/2006/relationships/image" Target="../media/image8.jpg"/></Relationships>
</file>

<file path=ppt/slides/_rels/slide2.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image" Target="../media/image11.jpg"/><Relationship Id="rId1" Type="http://schemas.openxmlformats.org/officeDocument/2006/relationships/slideLayout" Target="../slideLayouts/slideLayout7.xml"/><Relationship Id="rId6" Type="http://schemas.openxmlformats.org/officeDocument/2006/relationships/image" Target="../media/image15.jpg"/><Relationship Id="rId11" Type="http://schemas.openxmlformats.org/officeDocument/2006/relationships/image" Target="../media/image20.jpg"/><Relationship Id="rId5" Type="http://schemas.openxmlformats.org/officeDocument/2006/relationships/image" Target="../media/image14.jpg"/><Relationship Id="rId10" Type="http://schemas.openxmlformats.org/officeDocument/2006/relationships/image" Target="../media/image19.jpg"/><Relationship Id="rId4" Type="http://schemas.openxmlformats.org/officeDocument/2006/relationships/image" Target="../media/image13.jpg"/><Relationship Id="rId9" Type="http://schemas.openxmlformats.org/officeDocument/2006/relationships/image" Target="../media/image1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BA50C12-9AAE-F65F-8C98-6F14B5A35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903" y="529409"/>
            <a:ext cx="1822704" cy="3041904"/>
          </a:xfrm>
          <a:prstGeom prst="rect">
            <a:avLst/>
          </a:prstGeom>
        </p:spPr>
      </p:pic>
      <p:sp>
        <p:nvSpPr>
          <p:cNvPr id="14" name="TextBox 13">
            <a:extLst>
              <a:ext uri="{FF2B5EF4-FFF2-40B4-BE49-F238E27FC236}">
                <a16:creationId xmlns:a16="http://schemas.microsoft.com/office/drawing/2014/main" id="{79E08FE1-B5A8-DCA6-4B9B-4A4003941F62}"/>
              </a:ext>
            </a:extLst>
          </p:cNvPr>
          <p:cNvSpPr txBox="1"/>
          <p:nvPr/>
        </p:nvSpPr>
        <p:spPr>
          <a:xfrm>
            <a:off x="3699802" y="140675"/>
            <a:ext cx="6189785" cy="369332"/>
          </a:xfrm>
          <a:prstGeom prst="rect">
            <a:avLst/>
          </a:prstGeom>
          <a:noFill/>
        </p:spPr>
        <p:txBody>
          <a:bodyPr wrap="square" rtlCol="0">
            <a:spAutoFit/>
          </a:bodyPr>
          <a:lstStyle/>
          <a:p>
            <a:r>
              <a:rPr lang="en-GB" dirty="0"/>
              <a:t>HERE ARE THE 20 DIFFERENT COMPANY BOARD SQUARES</a:t>
            </a:r>
          </a:p>
        </p:txBody>
      </p:sp>
      <p:pic>
        <p:nvPicPr>
          <p:cNvPr id="16" name="Picture 15">
            <a:extLst>
              <a:ext uri="{FF2B5EF4-FFF2-40B4-BE49-F238E27FC236}">
                <a16:creationId xmlns:a16="http://schemas.microsoft.com/office/drawing/2014/main" id="{BD0A580B-BDB5-57F7-80D8-AA5CE2838B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354" y="511121"/>
            <a:ext cx="1834896" cy="3060192"/>
          </a:xfrm>
          <a:prstGeom prst="rect">
            <a:avLst/>
          </a:prstGeom>
        </p:spPr>
      </p:pic>
      <p:pic>
        <p:nvPicPr>
          <p:cNvPr id="18" name="Picture 17">
            <a:extLst>
              <a:ext uri="{FF2B5EF4-FFF2-40B4-BE49-F238E27FC236}">
                <a16:creationId xmlns:a16="http://schemas.microsoft.com/office/drawing/2014/main" id="{D86C9865-649B-49E8-18A6-83C9D44B6E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00" y="529409"/>
            <a:ext cx="1828800" cy="3066288"/>
          </a:xfrm>
          <a:prstGeom prst="rect">
            <a:avLst/>
          </a:prstGeom>
        </p:spPr>
      </p:pic>
      <p:pic>
        <p:nvPicPr>
          <p:cNvPr id="20" name="Picture 19">
            <a:extLst>
              <a:ext uri="{FF2B5EF4-FFF2-40B4-BE49-F238E27FC236}">
                <a16:creationId xmlns:a16="http://schemas.microsoft.com/office/drawing/2014/main" id="{B32D94F2-34A2-BA14-4709-F789471D02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18364" y="529409"/>
            <a:ext cx="1828800" cy="3017520"/>
          </a:xfrm>
          <a:prstGeom prst="rect">
            <a:avLst/>
          </a:prstGeom>
        </p:spPr>
      </p:pic>
      <p:pic>
        <p:nvPicPr>
          <p:cNvPr id="22" name="Picture 21">
            <a:extLst>
              <a:ext uri="{FF2B5EF4-FFF2-40B4-BE49-F238E27FC236}">
                <a16:creationId xmlns:a16="http://schemas.microsoft.com/office/drawing/2014/main" id="{26C29360-0BA3-B878-41C3-A4B2A61F2B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55128" y="565985"/>
            <a:ext cx="1828800" cy="2993136"/>
          </a:xfrm>
          <a:prstGeom prst="rect">
            <a:avLst/>
          </a:prstGeom>
        </p:spPr>
      </p:pic>
      <p:pic>
        <p:nvPicPr>
          <p:cNvPr id="24" name="Picture 23">
            <a:extLst>
              <a:ext uri="{FF2B5EF4-FFF2-40B4-BE49-F238E27FC236}">
                <a16:creationId xmlns:a16="http://schemas.microsoft.com/office/drawing/2014/main" id="{8F29F751-BA70-C887-39FD-D309924078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903" y="3694173"/>
            <a:ext cx="1828800" cy="3005328"/>
          </a:xfrm>
          <a:prstGeom prst="rect">
            <a:avLst/>
          </a:prstGeom>
        </p:spPr>
      </p:pic>
      <p:pic>
        <p:nvPicPr>
          <p:cNvPr id="26" name="Picture 25">
            <a:extLst>
              <a:ext uri="{FF2B5EF4-FFF2-40B4-BE49-F238E27FC236}">
                <a16:creationId xmlns:a16="http://schemas.microsoft.com/office/drawing/2014/main" id="{E1CFADC9-9FDD-D99E-7FA6-9707AE45DDB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82354" y="3694173"/>
            <a:ext cx="1834896" cy="3041904"/>
          </a:xfrm>
          <a:prstGeom prst="rect">
            <a:avLst/>
          </a:prstGeom>
        </p:spPr>
      </p:pic>
      <p:pic>
        <p:nvPicPr>
          <p:cNvPr id="28" name="Picture 27">
            <a:extLst>
              <a:ext uri="{FF2B5EF4-FFF2-40B4-BE49-F238E27FC236}">
                <a16:creationId xmlns:a16="http://schemas.microsoft.com/office/drawing/2014/main" id="{25ED346B-95CD-DD6F-EE64-00AFFF73A28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81600" y="3706365"/>
            <a:ext cx="1828800" cy="3029712"/>
          </a:xfrm>
          <a:prstGeom prst="rect">
            <a:avLst/>
          </a:prstGeom>
        </p:spPr>
      </p:pic>
      <p:pic>
        <p:nvPicPr>
          <p:cNvPr id="30" name="Picture 29">
            <a:extLst>
              <a:ext uri="{FF2B5EF4-FFF2-40B4-BE49-F238E27FC236}">
                <a16:creationId xmlns:a16="http://schemas.microsoft.com/office/drawing/2014/main" id="{A8971FE7-5577-3E63-FECD-5E50E25D164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23053" y="3694173"/>
            <a:ext cx="1834896" cy="3041904"/>
          </a:xfrm>
          <a:prstGeom prst="rect">
            <a:avLst/>
          </a:prstGeom>
        </p:spPr>
      </p:pic>
      <p:pic>
        <p:nvPicPr>
          <p:cNvPr id="32" name="Picture 31">
            <a:extLst>
              <a:ext uri="{FF2B5EF4-FFF2-40B4-BE49-F238E27FC236}">
                <a16:creationId xmlns:a16="http://schemas.microsoft.com/office/drawing/2014/main" id="{7E2A1E56-4816-B0A0-EEE8-EAC7A5AA96E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670602" y="3736845"/>
            <a:ext cx="1828800" cy="2999232"/>
          </a:xfrm>
          <a:prstGeom prst="rect">
            <a:avLst/>
          </a:prstGeom>
        </p:spPr>
      </p:pic>
    </p:spTree>
    <p:extLst>
      <p:ext uri="{BB962C8B-B14F-4D97-AF65-F5344CB8AC3E}">
        <p14:creationId xmlns:p14="http://schemas.microsoft.com/office/powerpoint/2010/main" val="1484832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137D2C-69F2-751F-65D6-14C8CBABA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 y="268224"/>
            <a:ext cx="1828800" cy="3029712"/>
          </a:xfrm>
          <a:prstGeom prst="rect">
            <a:avLst/>
          </a:prstGeom>
        </p:spPr>
      </p:pic>
      <p:pic>
        <p:nvPicPr>
          <p:cNvPr id="5" name="Picture 4">
            <a:extLst>
              <a:ext uri="{FF2B5EF4-FFF2-40B4-BE49-F238E27FC236}">
                <a16:creationId xmlns:a16="http://schemas.microsoft.com/office/drawing/2014/main" id="{857A2B2D-78FE-23AC-4C59-DA50119F4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5352" y="268224"/>
            <a:ext cx="1834896" cy="3029712"/>
          </a:xfrm>
          <a:prstGeom prst="rect">
            <a:avLst/>
          </a:prstGeom>
        </p:spPr>
      </p:pic>
      <p:pic>
        <p:nvPicPr>
          <p:cNvPr id="7" name="Picture 6">
            <a:extLst>
              <a:ext uri="{FF2B5EF4-FFF2-40B4-BE49-F238E27FC236}">
                <a16:creationId xmlns:a16="http://schemas.microsoft.com/office/drawing/2014/main" id="{5C644898-CCA3-ECB0-AD02-73A4FF0981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2960" y="268224"/>
            <a:ext cx="1828800" cy="3060192"/>
          </a:xfrm>
          <a:prstGeom prst="rect">
            <a:avLst/>
          </a:prstGeom>
        </p:spPr>
      </p:pic>
      <p:pic>
        <p:nvPicPr>
          <p:cNvPr id="9" name="Picture 8">
            <a:extLst>
              <a:ext uri="{FF2B5EF4-FFF2-40B4-BE49-F238E27FC236}">
                <a16:creationId xmlns:a16="http://schemas.microsoft.com/office/drawing/2014/main" id="{F4E388D4-231E-1B6A-4828-10CB37559D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14979" y="286512"/>
            <a:ext cx="1828800" cy="3041904"/>
          </a:xfrm>
          <a:prstGeom prst="rect">
            <a:avLst/>
          </a:prstGeom>
        </p:spPr>
      </p:pic>
      <p:pic>
        <p:nvPicPr>
          <p:cNvPr id="11" name="Picture 10">
            <a:extLst>
              <a:ext uri="{FF2B5EF4-FFF2-40B4-BE49-F238E27FC236}">
                <a16:creationId xmlns:a16="http://schemas.microsoft.com/office/drawing/2014/main" id="{4F93E99F-23A8-1608-8D72-0411CA2F44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22080" y="286512"/>
            <a:ext cx="1834896" cy="3041904"/>
          </a:xfrm>
          <a:prstGeom prst="rect">
            <a:avLst/>
          </a:prstGeom>
        </p:spPr>
      </p:pic>
      <p:pic>
        <p:nvPicPr>
          <p:cNvPr id="13" name="Picture 12">
            <a:extLst>
              <a:ext uri="{FF2B5EF4-FFF2-40B4-BE49-F238E27FC236}">
                <a16:creationId xmlns:a16="http://schemas.microsoft.com/office/drawing/2014/main" id="{C1E22AF0-377B-CE2A-9A30-A72FAD19F5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840" y="3560065"/>
            <a:ext cx="1828800" cy="3017520"/>
          </a:xfrm>
          <a:prstGeom prst="rect">
            <a:avLst/>
          </a:prstGeom>
        </p:spPr>
      </p:pic>
      <p:pic>
        <p:nvPicPr>
          <p:cNvPr id="15" name="Picture 14">
            <a:extLst>
              <a:ext uri="{FF2B5EF4-FFF2-40B4-BE49-F238E27FC236}">
                <a16:creationId xmlns:a16="http://schemas.microsoft.com/office/drawing/2014/main" id="{B4D1C8B6-009C-4F0B-7599-54D993DAD6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35352" y="3560065"/>
            <a:ext cx="1834896" cy="3084576"/>
          </a:xfrm>
          <a:prstGeom prst="rect">
            <a:avLst/>
          </a:prstGeom>
        </p:spPr>
      </p:pic>
      <p:pic>
        <p:nvPicPr>
          <p:cNvPr id="17" name="Picture 16">
            <a:extLst>
              <a:ext uri="{FF2B5EF4-FFF2-40B4-BE49-F238E27FC236}">
                <a16:creationId xmlns:a16="http://schemas.microsoft.com/office/drawing/2014/main" id="{E05D0811-AD73-2AEE-9779-E3E77819D01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32960" y="3627121"/>
            <a:ext cx="1828800" cy="3017520"/>
          </a:xfrm>
          <a:prstGeom prst="rect">
            <a:avLst/>
          </a:prstGeom>
        </p:spPr>
      </p:pic>
      <p:pic>
        <p:nvPicPr>
          <p:cNvPr id="19" name="Picture 18">
            <a:extLst>
              <a:ext uri="{FF2B5EF4-FFF2-40B4-BE49-F238E27FC236}">
                <a16:creationId xmlns:a16="http://schemas.microsoft.com/office/drawing/2014/main" id="{58A19212-9CF0-1693-7773-F11AD04C051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14979" y="3627121"/>
            <a:ext cx="1828800" cy="3041904"/>
          </a:xfrm>
          <a:prstGeom prst="rect">
            <a:avLst/>
          </a:prstGeom>
        </p:spPr>
      </p:pic>
      <p:pic>
        <p:nvPicPr>
          <p:cNvPr id="21" name="Picture 20">
            <a:extLst>
              <a:ext uri="{FF2B5EF4-FFF2-40B4-BE49-F238E27FC236}">
                <a16:creationId xmlns:a16="http://schemas.microsoft.com/office/drawing/2014/main" id="{61A5E91D-4A4A-52AF-81B3-28BAF757E37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22080" y="3633217"/>
            <a:ext cx="1834896" cy="3029712"/>
          </a:xfrm>
          <a:prstGeom prst="rect">
            <a:avLst/>
          </a:prstGeom>
        </p:spPr>
      </p:pic>
    </p:spTree>
    <p:extLst>
      <p:ext uri="{BB962C8B-B14F-4D97-AF65-F5344CB8AC3E}">
        <p14:creationId xmlns:p14="http://schemas.microsoft.com/office/powerpoint/2010/main" val="1584913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56E317-7C5C-2975-E9F5-C9F3E73C7AF8}"/>
              </a:ext>
            </a:extLst>
          </p:cNvPr>
          <p:cNvSpPr txBox="1"/>
          <p:nvPr/>
        </p:nvSpPr>
        <p:spPr>
          <a:xfrm>
            <a:off x="2215662" y="252046"/>
            <a:ext cx="872196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The functions of a player landing on A company square not issued are as follows</a:t>
            </a:r>
          </a:p>
        </p:txBody>
      </p:sp>
      <p:sp>
        <p:nvSpPr>
          <p:cNvPr id="5" name="TextBox 4">
            <a:extLst>
              <a:ext uri="{FF2B5EF4-FFF2-40B4-BE49-F238E27FC236}">
                <a16:creationId xmlns:a16="http://schemas.microsoft.com/office/drawing/2014/main" id="{4F939CF9-E49F-6CD4-9517-C21938C0CEA9}"/>
              </a:ext>
            </a:extLst>
          </p:cNvPr>
          <p:cNvSpPr txBox="1"/>
          <p:nvPr/>
        </p:nvSpPr>
        <p:spPr>
          <a:xfrm>
            <a:off x="463061" y="710948"/>
            <a:ext cx="11265877" cy="5109091"/>
          </a:xfrm>
          <a:prstGeom prst="rect">
            <a:avLst/>
          </a:prstGeom>
          <a:noFill/>
        </p:spPr>
        <p:txBody>
          <a:bodyPr wrap="square">
            <a:spAutoFit/>
          </a:bodyPr>
          <a:lstStyle/>
          <a:p>
            <a:pPr>
              <a:buNone/>
            </a:pPr>
            <a:r>
              <a:rPr lang="en-GB" sz="1400" kern="1200" dirty="0">
                <a:solidFill>
                  <a:srgbClr val="000000"/>
                </a:solidFill>
                <a:effectLst/>
                <a:highlight>
                  <a:srgbClr val="FFFF00"/>
                </a:highlight>
                <a:latin typeface="Aptos" panose="020B0004020202020204" pitchFamily="34" charset="0"/>
                <a:ea typeface="+mn-ea"/>
                <a:cs typeface="+mn-cs"/>
              </a:rPr>
              <a:t>Action 1) </a:t>
            </a:r>
            <a:r>
              <a:rPr lang="en-GB" sz="1400" kern="1200" dirty="0">
                <a:solidFill>
                  <a:srgbClr val="000000"/>
                </a:solidFill>
                <a:effectLst/>
                <a:latin typeface="Aptos" panose="020B0004020202020204" pitchFamily="34" charset="0"/>
                <a:ea typeface="+mn-ea"/>
                <a:cs typeface="+mn-cs"/>
              </a:rPr>
              <a:t>If landing player lands on a Company Account square that has not been issued. The Highlife Server will present landing player with advert of the company that has sponsored the square, (it will stay on display for 10 seconds with message “click screen to attempt question to gain this account use of a Boffins not allowed). All other players will see sponsor advert whilst landing player is in play. They may use time to check their own Game Account Folder.</a:t>
            </a:r>
            <a:endParaRPr lang="en-GB" sz="1200" dirty="0">
              <a:effectLst/>
              <a:latin typeface="Times New Roman" panose="02020603050405020304" pitchFamily="18" charset="0"/>
              <a:ea typeface="Times New Roman" panose="02020603050405020304" pitchFamily="18" charset="0"/>
            </a:endParaRPr>
          </a:p>
          <a:p>
            <a:pPr>
              <a:buNone/>
            </a:pPr>
            <a:r>
              <a:rPr lang="en-GB" sz="1400" kern="1200" dirty="0">
                <a:solidFill>
                  <a:srgbClr val="000000"/>
                </a:solidFill>
                <a:effectLst/>
                <a:latin typeface="Aptos" panose="020B0004020202020204" pitchFamily="34" charset="0"/>
                <a:ea typeface="+mn-ea"/>
                <a:cs typeface="+mn-cs"/>
              </a:rPr>
              <a:t> </a:t>
            </a:r>
            <a:endParaRPr lang="en-GB" sz="1200" dirty="0">
              <a:effectLst/>
              <a:latin typeface="Times New Roman" panose="02020603050405020304" pitchFamily="18" charset="0"/>
              <a:ea typeface="Times New Roman" panose="02020603050405020304" pitchFamily="18" charset="0"/>
            </a:endParaRPr>
          </a:p>
          <a:p>
            <a:pPr>
              <a:buNone/>
            </a:pPr>
            <a:r>
              <a:rPr lang="en-GB" sz="1400" kern="1200" dirty="0">
                <a:solidFill>
                  <a:srgbClr val="000000"/>
                </a:solidFill>
                <a:effectLst/>
                <a:highlight>
                  <a:srgbClr val="00FFFF"/>
                </a:highlight>
                <a:latin typeface="Aptos" panose="020B0004020202020204" pitchFamily="34" charset="0"/>
                <a:ea typeface="+mn-ea"/>
                <a:cs typeface="+mn-cs"/>
              </a:rPr>
              <a:t>Action 1a) </a:t>
            </a:r>
            <a:r>
              <a:rPr lang="en-GB" sz="1400" kern="1200" dirty="0">
                <a:solidFill>
                  <a:srgbClr val="000000"/>
                </a:solidFill>
                <a:effectLst/>
                <a:latin typeface="Aptos" panose="020B0004020202020204" pitchFamily="34" charset="0"/>
                <a:ea typeface="+mn-ea"/>
                <a:cs typeface="+mn-cs"/>
              </a:rPr>
              <a:t>If player does not click in the 10 seconds, go ends and passes to next player in turn. All other players will see sponsor advert whilst landing players move is active. They may use time to check their own Game Account Folder.</a:t>
            </a:r>
            <a:endParaRPr lang="en-GB" sz="1200" dirty="0">
              <a:effectLst/>
              <a:latin typeface="Times New Roman" panose="02020603050405020304" pitchFamily="18" charset="0"/>
              <a:ea typeface="Times New Roman" panose="02020603050405020304" pitchFamily="18" charset="0"/>
            </a:endParaRPr>
          </a:p>
          <a:p>
            <a:pPr>
              <a:buNone/>
            </a:pPr>
            <a:r>
              <a:rPr lang="en-GB" sz="1200" dirty="0">
                <a:effectLst/>
                <a:latin typeface="Times New Roman" panose="02020603050405020304" pitchFamily="18" charset="0"/>
                <a:ea typeface="Times New Roman" panose="02020603050405020304" pitchFamily="18" charset="0"/>
              </a:rPr>
              <a:t> </a:t>
            </a:r>
          </a:p>
          <a:p>
            <a:pPr>
              <a:buNone/>
            </a:pPr>
            <a:r>
              <a:rPr lang="en-GB" sz="1400" kern="1200" dirty="0">
                <a:solidFill>
                  <a:srgbClr val="000000"/>
                </a:solidFill>
                <a:effectLst/>
                <a:highlight>
                  <a:srgbClr val="FFFF00"/>
                </a:highlight>
                <a:latin typeface="Aptos" panose="020B0004020202020204" pitchFamily="34" charset="0"/>
                <a:ea typeface="Times New Roman" panose="02020603050405020304" pitchFamily="18" charset="0"/>
                <a:cs typeface="Times New Roman" panose="02020603050405020304" pitchFamily="18" charset="0"/>
              </a:rPr>
              <a:t>Action 1b)</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Player on clicking screen, that colour banded Company Square Dice will role and display value of HECUs for question for player. </a:t>
            </a:r>
            <a:endParaRPr lang="en-GB" sz="1200" dirty="0">
              <a:effectLst/>
              <a:latin typeface="Times New Roman" panose="02020603050405020304" pitchFamily="18" charset="0"/>
              <a:ea typeface="Times New Roman" panose="02020603050405020304" pitchFamily="18" charset="0"/>
            </a:endParaRPr>
          </a:p>
          <a:p>
            <a:pPr>
              <a:buNone/>
            </a:pP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t>
            </a:r>
            <a:endParaRPr lang="en-GB" sz="1200" dirty="0">
              <a:effectLst/>
              <a:latin typeface="Times New Roman" panose="02020603050405020304" pitchFamily="18" charset="0"/>
              <a:ea typeface="Times New Roman" panose="02020603050405020304" pitchFamily="18" charset="0"/>
            </a:endParaRPr>
          </a:p>
          <a:p>
            <a:pPr>
              <a:buNone/>
            </a:pPr>
            <a:r>
              <a:rPr lang="en-GB" sz="1400" kern="1200" dirty="0">
                <a:solidFill>
                  <a:srgbClr val="000000"/>
                </a:solidFill>
                <a:effectLst/>
                <a:highlight>
                  <a:srgbClr val="FFFF00"/>
                </a:highlight>
                <a:latin typeface="Aptos" panose="020B0004020202020204" pitchFamily="34" charset="0"/>
                <a:ea typeface="Times New Roman" panose="02020603050405020304" pitchFamily="18" charset="0"/>
                <a:cs typeface="Times New Roman" panose="02020603050405020304" pitchFamily="18" charset="0"/>
              </a:rPr>
              <a:t>Action 1c)</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Then they will get sponsored question on screen for 20 seconds, which will be read only to them. All other players will be presented with sponsor’s advert, whilst landing players move is active. In this time other players can choose to select to check own Game Account Folder contents.</a:t>
            </a:r>
            <a:endParaRPr lang="en-GB" sz="1200" dirty="0">
              <a:effectLst/>
              <a:latin typeface="Times New Roman" panose="02020603050405020304" pitchFamily="18" charset="0"/>
              <a:ea typeface="Times New Roman" panose="02020603050405020304" pitchFamily="18" charset="0"/>
            </a:endParaRPr>
          </a:p>
          <a:p>
            <a:pPr>
              <a:buNone/>
            </a:pPr>
            <a:r>
              <a:rPr lang="en-GB" sz="1200" dirty="0">
                <a:effectLst/>
                <a:latin typeface="Times New Roman" panose="02020603050405020304" pitchFamily="18" charset="0"/>
                <a:ea typeface="Times New Roman" panose="02020603050405020304" pitchFamily="18" charset="0"/>
              </a:rPr>
              <a:t> </a:t>
            </a:r>
          </a:p>
          <a:p>
            <a:pPr>
              <a:buNone/>
            </a:pPr>
            <a:r>
              <a:rPr lang="en-GB" sz="1400" kern="1200" dirty="0">
                <a:solidFill>
                  <a:srgbClr val="000000"/>
                </a:solidFill>
                <a:effectLst/>
                <a:highlight>
                  <a:srgbClr val="FFFF00"/>
                </a:highlight>
                <a:latin typeface="Aptos" panose="020B0004020202020204" pitchFamily="34" charset="0"/>
                <a:ea typeface="Times New Roman" panose="02020603050405020304" pitchFamily="18" charset="0"/>
                <a:cs typeface="Times New Roman" panose="02020603050405020304" pitchFamily="18" charset="0"/>
              </a:rPr>
              <a:t>Action 1d) </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Landing players screen after 20 seconds will change to display 4 options to answer the question with timer counting down from 20 to zero in seconds. Player must select one answer in the 20 seconds. Or go ends and passes to next player in turn.</a:t>
            </a:r>
            <a:endParaRPr lang="en-GB" sz="1200" dirty="0">
              <a:effectLst/>
              <a:latin typeface="Times New Roman" panose="02020603050405020304" pitchFamily="18" charset="0"/>
              <a:ea typeface="Times New Roman" panose="02020603050405020304" pitchFamily="18" charset="0"/>
            </a:endParaRPr>
          </a:p>
          <a:p>
            <a:pPr>
              <a:buNone/>
            </a:pPr>
            <a:r>
              <a:rPr lang="en-GB" sz="1200" dirty="0">
                <a:effectLst/>
                <a:latin typeface="Times New Roman" panose="02020603050405020304" pitchFamily="18" charset="0"/>
                <a:ea typeface="Times New Roman" panose="02020603050405020304" pitchFamily="18" charset="0"/>
              </a:rPr>
              <a:t> </a:t>
            </a:r>
          </a:p>
          <a:p>
            <a:pPr>
              <a:buNone/>
            </a:pPr>
            <a:r>
              <a:rPr lang="en-GB" sz="1400" kern="1200" dirty="0">
                <a:solidFill>
                  <a:srgbClr val="000000"/>
                </a:solidFill>
                <a:effectLst/>
                <a:highlight>
                  <a:srgbClr val="FFFF00"/>
                </a:highlight>
                <a:latin typeface="Aptos" panose="020B0004020202020204" pitchFamily="34" charset="0"/>
                <a:ea typeface="Times New Roman" panose="02020603050405020304" pitchFamily="18" charset="0"/>
                <a:cs typeface="Times New Roman" panose="02020603050405020304" pitchFamily="18" charset="0"/>
              </a:rPr>
              <a:t>Action 2a) </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If player selects the correct answer in the time. Their Game Folder will be credited with that Company Account, plus 1 Team Worker will be deposited on the Company Square for them, plus they will have credited to their Game Account the </a:t>
            </a:r>
            <a:r>
              <a:rPr lang="en-GB" sz="14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value of HECUs </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reward for question as reward, for each Team Worker they have on that Company Account. Then their go ends and play moves to next player in turn.</a:t>
            </a:r>
          </a:p>
          <a:p>
            <a:pPr>
              <a:buNone/>
            </a:pPr>
            <a:endParaRPr lang="en-GB" sz="1200" dirty="0">
              <a:effectLst/>
              <a:latin typeface="Times New Roman" panose="02020603050405020304" pitchFamily="18" charset="0"/>
              <a:ea typeface="Times New Roman" panose="02020603050405020304" pitchFamily="18" charset="0"/>
            </a:endParaRPr>
          </a:p>
          <a:p>
            <a:pPr>
              <a:buNone/>
            </a:pPr>
            <a:r>
              <a:rPr lang="en-GB" sz="1400" kern="1200" dirty="0">
                <a:solidFill>
                  <a:srgbClr val="000000"/>
                </a:solidFill>
                <a:effectLst/>
                <a:highlight>
                  <a:srgbClr val="00FFFF"/>
                </a:highlight>
                <a:latin typeface="Aptos" panose="020B0004020202020204" pitchFamily="34" charset="0"/>
                <a:ea typeface="Times New Roman" panose="02020603050405020304" pitchFamily="18" charset="0"/>
                <a:cs typeface="Times New Roman" panose="02020603050405020304" pitchFamily="18" charset="0"/>
              </a:rPr>
              <a:t>Action 2b) </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If player selects wrong answer, message appears on all player screens player gave wrong answer and their go ends and play moves to next player in turn.</a:t>
            </a:r>
            <a:endParaRPr lang="en-GB" sz="1400" dirty="0">
              <a:effectLst/>
              <a:latin typeface="Times New Roman" panose="02020603050405020304" pitchFamily="18" charset="0"/>
              <a:ea typeface="Times New Roman" panose="02020603050405020304" pitchFamily="18" charset="0"/>
            </a:endParaRPr>
          </a:p>
          <a:p>
            <a:pPr>
              <a:buNone/>
            </a:pPr>
            <a:endParaRPr lang="en-GB"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15402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AD1B09-005F-54B4-5DCE-C68C5AB3F3C3}"/>
              </a:ext>
            </a:extLst>
          </p:cNvPr>
          <p:cNvSpPr txBox="1"/>
          <p:nvPr/>
        </p:nvSpPr>
        <p:spPr>
          <a:xfrm>
            <a:off x="1617784" y="228600"/>
            <a:ext cx="872196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The functions of a player landing on a company square that is  issued are as follows</a:t>
            </a:r>
          </a:p>
        </p:txBody>
      </p:sp>
      <p:sp>
        <p:nvSpPr>
          <p:cNvPr id="5" name="TextBox 4">
            <a:extLst>
              <a:ext uri="{FF2B5EF4-FFF2-40B4-BE49-F238E27FC236}">
                <a16:creationId xmlns:a16="http://schemas.microsoft.com/office/drawing/2014/main" id="{ABC87CA2-6248-A05D-6D70-D7E65633801F}"/>
              </a:ext>
            </a:extLst>
          </p:cNvPr>
          <p:cNvSpPr txBox="1"/>
          <p:nvPr/>
        </p:nvSpPr>
        <p:spPr>
          <a:xfrm>
            <a:off x="-3892062" y="6629400"/>
            <a:ext cx="11019692" cy="2092881"/>
          </a:xfrm>
          <a:prstGeom prst="rect">
            <a:avLst/>
          </a:prstGeom>
          <a:noFill/>
        </p:spPr>
        <p:txBody>
          <a:bodyPr wrap="square" rtlCol="0">
            <a:spAutoFit/>
          </a:bodyPr>
          <a:lstStyle/>
          <a:p>
            <a:endParaRPr lang="en-GB" sz="1400" i="1" dirty="0">
              <a:solidFill>
                <a:srgbClr val="002060"/>
              </a:solidFill>
            </a:endParaRPr>
          </a:p>
          <a:p>
            <a:r>
              <a:rPr lang="en-GB" sz="1400" dirty="0">
                <a:highlight>
                  <a:srgbClr val="FFFF00"/>
                </a:highlight>
              </a:rPr>
              <a:t>Action 6) </a:t>
            </a:r>
            <a:r>
              <a:rPr lang="en-GB" sz="1400" dirty="0"/>
              <a:t>Player is not allowed to use Boffins to answer Consultation Questions.</a:t>
            </a:r>
          </a:p>
          <a:p>
            <a:endParaRPr lang="en-GB" sz="1400" i="1" dirty="0">
              <a:solidFill>
                <a:srgbClr val="002060"/>
              </a:solidFill>
            </a:endParaRPr>
          </a:p>
          <a:p>
            <a:r>
              <a:rPr lang="en-GB" sz="1400" dirty="0"/>
              <a:t>if Game Server finds they have, then displayed on screen at same time  player will see displayed any Boffins that they have in their Game Folder that they could used to help answer the question. With message you have 10 seconds to click one to help you. Using boffins will reduce value of reward to question. Clicking on Boffin will activate relative  level of help. If player clicks a Boffin it will be taken from the screen , then the player then has another 10 seconds to answer question. Then </a:t>
            </a:r>
            <a:r>
              <a:rPr lang="en-GB" sz="1400" dirty="0">
                <a:highlight>
                  <a:srgbClr val="FFFF00"/>
                </a:highlight>
              </a:rPr>
              <a:t>(Action 4</a:t>
            </a:r>
            <a:r>
              <a:rPr lang="en-GB" sz="1400" dirty="0"/>
              <a:t>) Comes into play. If player selects wrong answer (Action 4a) Comes into play.</a:t>
            </a:r>
          </a:p>
          <a:p>
            <a:endParaRPr lang="en-GB" dirty="0"/>
          </a:p>
        </p:txBody>
      </p:sp>
      <p:sp>
        <p:nvSpPr>
          <p:cNvPr id="7" name="TextBox 6">
            <a:extLst>
              <a:ext uri="{FF2B5EF4-FFF2-40B4-BE49-F238E27FC236}">
                <a16:creationId xmlns:a16="http://schemas.microsoft.com/office/drawing/2014/main" id="{EFC3F473-B38B-D758-11AF-F318BC21A1B5}"/>
              </a:ext>
            </a:extLst>
          </p:cNvPr>
          <p:cNvSpPr txBox="1"/>
          <p:nvPr/>
        </p:nvSpPr>
        <p:spPr>
          <a:xfrm>
            <a:off x="1699847" y="720915"/>
            <a:ext cx="7432430" cy="523220"/>
          </a:xfrm>
          <a:prstGeom prst="rect">
            <a:avLst/>
          </a:prstGeom>
          <a:noFill/>
        </p:spPr>
        <p:txBody>
          <a:bodyPr wrap="square">
            <a:spAutoFit/>
          </a:bodyPr>
          <a:lstStyle/>
          <a:p>
            <a:r>
              <a:rPr lang="en-GB" sz="1400" dirty="0"/>
              <a:t>Action 1) </a:t>
            </a:r>
            <a:r>
              <a:rPr lang="en-GB" sz="1400" i="1" dirty="0">
                <a:solidFill>
                  <a:srgbClr val="002060"/>
                </a:solidFill>
              </a:rPr>
              <a:t>Highlife Server will check which player has control of the Company Account.</a:t>
            </a:r>
          </a:p>
          <a:p>
            <a:endParaRPr lang="en-GB" sz="1400" i="1" dirty="0">
              <a:solidFill>
                <a:srgbClr val="002060"/>
              </a:solidFill>
            </a:endParaRPr>
          </a:p>
        </p:txBody>
      </p:sp>
      <p:sp>
        <p:nvSpPr>
          <p:cNvPr id="8" name="TextBox 7">
            <a:extLst>
              <a:ext uri="{FF2B5EF4-FFF2-40B4-BE49-F238E27FC236}">
                <a16:creationId xmlns:a16="http://schemas.microsoft.com/office/drawing/2014/main" id="{22593885-31BC-3CFD-D83F-3568768C750E}"/>
              </a:ext>
            </a:extLst>
          </p:cNvPr>
          <p:cNvSpPr txBox="1"/>
          <p:nvPr/>
        </p:nvSpPr>
        <p:spPr>
          <a:xfrm>
            <a:off x="855784" y="1137139"/>
            <a:ext cx="10421815" cy="5047536"/>
          </a:xfrm>
          <a:prstGeom prst="rect">
            <a:avLst/>
          </a:prstGeom>
          <a:noFill/>
        </p:spPr>
        <p:txBody>
          <a:bodyPr wrap="square" rtlCol="0">
            <a:spAutoFit/>
          </a:bodyPr>
          <a:lstStyle/>
          <a:p>
            <a:r>
              <a:rPr lang="en-GB" sz="1400" dirty="0">
                <a:highlight>
                  <a:srgbClr val="FFFF00"/>
                </a:highlight>
              </a:rPr>
              <a:t>Action 3) </a:t>
            </a:r>
            <a:r>
              <a:rPr lang="en-GB" sz="1400" dirty="0"/>
              <a:t>If Highlife Server finds Company Account is issued to landing player. The Highlife Server will present landing player with advert of the company that has sponsored the square, (it will stay on display for 10 seconds with message “click screen to attempt question to gain another Team Work on account, use of a Boffin is allowed, if required select any on screen. If they don’t click on screen in time , </a:t>
            </a:r>
          </a:p>
          <a:p>
            <a:endParaRPr lang="en-GB" sz="1400" dirty="0"/>
          </a:p>
          <a:p>
            <a:r>
              <a:rPr lang="en-GB" sz="1400" dirty="0">
                <a:highlight>
                  <a:srgbClr val="FFFF00"/>
                </a:highlight>
              </a:rPr>
              <a:t>Action 3a)</a:t>
            </a:r>
            <a:r>
              <a:rPr lang="en-GB" sz="1400" dirty="0"/>
              <a:t>	Automatically that colour banded Company Square Dice will role and display value of 50% of question value to  player., they are credited  with this  amount to there  Game Folder. Players go ends and move passes to next player in turn. All other players will see sponsor advert whilst landing player is in play. They may use time to check their own Game Account Folder</a:t>
            </a:r>
          </a:p>
          <a:p>
            <a:endParaRPr lang="en-GB" sz="1400" dirty="0"/>
          </a:p>
          <a:p>
            <a:r>
              <a:rPr lang="en-GB" sz="1400" dirty="0">
                <a:highlight>
                  <a:srgbClr val="FFFF00"/>
                </a:highlight>
              </a:rPr>
              <a:t>Action 3b) </a:t>
            </a:r>
            <a:r>
              <a:rPr lang="en-GB" sz="1400" dirty="0"/>
              <a:t>If player does click in the 10 seconds. The Highlife Server will present landing player with advert of the company that has sponsored the square, (it will stay on display for 10 seconds with message “click screen to attempt question to gain another Team Worker on this Company Account  , use of a Boffins  displayed are allowed, if wanted click them now). All other players will see sponsor advert whilst landing player is in play. They may use time to check their own Game Account Folder.</a:t>
            </a:r>
          </a:p>
          <a:p>
            <a:endParaRPr lang="en-GB" sz="1400" dirty="0"/>
          </a:p>
          <a:p>
            <a:r>
              <a:rPr lang="en-GB" sz="1400" dirty="0">
                <a:highlight>
                  <a:srgbClr val="FFFF00"/>
                </a:highlight>
              </a:rPr>
              <a:t>Action 1b</a:t>
            </a:r>
            <a:r>
              <a:rPr lang="en-GB" sz="1400" dirty="0"/>
              <a:t>)  If player selects a Boffin on screen ,on clicking screen, that colour banded Company Square Dice will role and display  reduced value of HECUs for using a selected Boffin according to terms of use for help  in answering question for player. The Boffin is removed from player after use.</a:t>
            </a:r>
          </a:p>
          <a:p>
            <a:endParaRPr lang="en-GB" sz="1400" dirty="0"/>
          </a:p>
          <a:p>
            <a:pPr>
              <a:buNone/>
            </a:pPr>
            <a:r>
              <a:rPr lang="en-GB" sz="1400" kern="1200" dirty="0">
                <a:solidFill>
                  <a:srgbClr val="000000"/>
                </a:solidFill>
                <a:effectLst/>
                <a:highlight>
                  <a:srgbClr val="FFFF00"/>
                </a:highlight>
                <a:latin typeface="Aptos" panose="020B0004020202020204" pitchFamily="34" charset="0"/>
                <a:ea typeface="Times New Roman" panose="02020603050405020304" pitchFamily="18" charset="0"/>
                <a:cs typeface="Times New Roman" panose="02020603050405020304" pitchFamily="18" charset="0"/>
              </a:rPr>
              <a:t>Action 1c)</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Then they will get sponsored question on screen for 20 seconds, which will be read only to them. All other players will be presented with sponsor’s advert, whilst Landing players move is active. In this time other players can choose to select to check own Game Account Folder contents.</a:t>
            </a:r>
            <a:endParaRPr lang="en-GB" sz="1200" dirty="0">
              <a:effectLst/>
              <a:latin typeface="Times New Roman" panose="02020603050405020304" pitchFamily="18" charset="0"/>
              <a:ea typeface="Times New Roman" panose="02020603050405020304" pitchFamily="18" charset="0"/>
            </a:endParaRPr>
          </a:p>
          <a:p>
            <a:endParaRPr lang="en-GB" sz="1400" dirty="0"/>
          </a:p>
          <a:p>
            <a:endParaRPr lang="en-GB" sz="1400" dirty="0"/>
          </a:p>
        </p:txBody>
      </p:sp>
    </p:spTree>
    <p:extLst>
      <p:ext uri="{BB962C8B-B14F-4D97-AF65-F5344CB8AC3E}">
        <p14:creationId xmlns:p14="http://schemas.microsoft.com/office/powerpoint/2010/main" val="1411600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8555ED-E78D-F49E-EC31-E63C7C92A089}"/>
              </a:ext>
            </a:extLst>
          </p:cNvPr>
          <p:cNvSpPr txBox="1"/>
          <p:nvPr/>
        </p:nvSpPr>
        <p:spPr>
          <a:xfrm>
            <a:off x="844062" y="228600"/>
            <a:ext cx="949569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The functions of a player landing on a company square that is  issued are as follows continued. </a:t>
            </a:r>
          </a:p>
        </p:txBody>
      </p:sp>
      <p:sp>
        <p:nvSpPr>
          <p:cNvPr id="5" name="TextBox 4">
            <a:extLst>
              <a:ext uri="{FF2B5EF4-FFF2-40B4-BE49-F238E27FC236}">
                <a16:creationId xmlns:a16="http://schemas.microsoft.com/office/drawing/2014/main" id="{FBF5B8D0-DAAA-9988-6E87-224FB268FA75}"/>
              </a:ext>
            </a:extLst>
          </p:cNvPr>
          <p:cNvSpPr txBox="1"/>
          <p:nvPr/>
        </p:nvSpPr>
        <p:spPr>
          <a:xfrm>
            <a:off x="586153" y="759732"/>
            <a:ext cx="10527323" cy="2462213"/>
          </a:xfrm>
          <a:prstGeom prst="rect">
            <a:avLst/>
          </a:prstGeom>
          <a:noFill/>
        </p:spPr>
        <p:txBody>
          <a:bodyPr wrap="square">
            <a:spAutoFit/>
          </a:bodyPr>
          <a:lstStyle/>
          <a:p>
            <a:pPr>
              <a:buNone/>
            </a:pPr>
            <a:r>
              <a:rPr lang="en-GB" sz="1400" kern="1200" dirty="0">
                <a:solidFill>
                  <a:srgbClr val="000000"/>
                </a:solidFill>
                <a:effectLst/>
                <a:highlight>
                  <a:srgbClr val="FFFF00"/>
                </a:highlight>
                <a:latin typeface="Aptos" panose="020B0004020202020204" pitchFamily="34" charset="0"/>
                <a:ea typeface="Times New Roman" panose="02020603050405020304" pitchFamily="18" charset="0"/>
                <a:cs typeface="Times New Roman" panose="02020603050405020304" pitchFamily="18" charset="0"/>
              </a:rPr>
              <a:t>Action 1d</a:t>
            </a:r>
            <a:r>
              <a:rPr lang="en-GB" sz="1400" kern="12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After player clicks a Boffin, Landing players screen after 20 seconds will change to display 4 options to answer the question with timer counting down from 20 to zero in seconds. Player must select one answer in the 20 seconds. Or go ends and passes to next player in turn.</a:t>
            </a:r>
          </a:p>
          <a:p>
            <a:pPr>
              <a:buNone/>
            </a:pPr>
            <a:endParaRPr lang="en-GB" sz="14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a:p>
            <a:r>
              <a:rPr lang="en-GB" sz="1400" dirty="0">
                <a:highlight>
                  <a:srgbClr val="FFFF00"/>
                </a:highlight>
              </a:rPr>
              <a:t>Action 2a) </a:t>
            </a:r>
            <a:r>
              <a:rPr lang="en-GB" sz="1400" dirty="0"/>
              <a:t>If player selects the correct answer in the time. Their Game Folder will be credited with the reduced reward value for each Team Worker on the Company Account plus 1 Team Worker will be deposited on the Company Square for them. Then their go ends and play moves to next player in turn.</a:t>
            </a:r>
          </a:p>
          <a:p>
            <a:endParaRPr lang="en-GB" sz="1400" dirty="0"/>
          </a:p>
          <a:p>
            <a:r>
              <a:rPr lang="en-GB" sz="1400" dirty="0">
                <a:highlight>
                  <a:srgbClr val="00FFFF"/>
                </a:highlight>
              </a:rPr>
              <a:t>Action 2b</a:t>
            </a:r>
            <a:r>
              <a:rPr lang="en-GB" sz="1400" dirty="0"/>
              <a:t>) If player selects the wrong answer , message will appear on all players screens” players knowledge let him down”. Move goes to next player in turn.</a:t>
            </a:r>
          </a:p>
          <a:p>
            <a:pPr>
              <a:buNone/>
            </a:pPr>
            <a:endParaRPr lang="en-GB" sz="1400" dirty="0">
              <a:solidFill>
                <a:srgbClr val="000000"/>
              </a:solidFill>
              <a:latin typeface="Aptos" panose="020B00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4594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8693B0-E0EB-56FE-51A0-192DEA298B4F}"/>
              </a:ext>
            </a:extLst>
          </p:cNvPr>
          <p:cNvSpPr txBox="1"/>
          <p:nvPr/>
        </p:nvSpPr>
        <p:spPr>
          <a:xfrm>
            <a:off x="1594338" y="527538"/>
            <a:ext cx="8663354" cy="369332"/>
          </a:xfrm>
          <a:prstGeom prst="rect">
            <a:avLst/>
          </a:prstGeom>
          <a:noFill/>
        </p:spPr>
        <p:txBody>
          <a:bodyPr wrap="square" rtlCol="0">
            <a:spAutoFit/>
          </a:bodyPr>
          <a:lstStyle/>
          <a:p>
            <a:r>
              <a:rPr lang="en-GB" dirty="0"/>
              <a:t>If landing player lands on Company Account square under control of another player</a:t>
            </a:r>
          </a:p>
        </p:txBody>
      </p:sp>
      <p:sp>
        <p:nvSpPr>
          <p:cNvPr id="3" name="TextBox 2">
            <a:extLst>
              <a:ext uri="{FF2B5EF4-FFF2-40B4-BE49-F238E27FC236}">
                <a16:creationId xmlns:a16="http://schemas.microsoft.com/office/drawing/2014/main" id="{0643873A-4522-4BE9-2210-66CF98FABA9C}"/>
              </a:ext>
            </a:extLst>
          </p:cNvPr>
          <p:cNvSpPr txBox="1"/>
          <p:nvPr/>
        </p:nvSpPr>
        <p:spPr>
          <a:xfrm>
            <a:off x="1219201" y="1230922"/>
            <a:ext cx="9730154" cy="5478423"/>
          </a:xfrm>
          <a:prstGeom prst="rect">
            <a:avLst/>
          </a:prstGeom>
          <a:noFill/>
        </p:spPr>
        <p:txBody>
          <a:bodyPr wrap="square" rtlCol="0">
            <a:spAutoFit/>
          </a:bodyPr>
          <a:lstStyle/>
          <a:p>
            <a:r>
              <a:rPr lang="en-GB" sz="1400" dirty="0"/>
              <a:t>Action 1) </a:t>
            </a:r>
            <a:r>
              <a:rPr lang="en-GB" sz="1400" i="1" dirty="0">
                <a:solidFill>
                  <a:srgbClr val="002060"/>
                </a:solidFill>
              </a:rPr>
              <a:t>Highlife Server will check which player has control of the Company Account</a:t>
            </a:r>
          </a:p>
          <a:p>
            <a:endParaRPr lang="en-GB" sz="1400" i="1" dirty="0">
              <a:solidFill>
                <a:srgbClr val="002060"/>
              </a:solidFill>
            </a:endParaRPr>
          </a:p>
          <a:p>
            <a:r>
              <a:rPr lang="en-GB" sz="1400" dirty="0">
                <a:highlight>
                  <a:srgbClr val="FFFF00"/>
                </a:highlight>
              </a:rPr>
              <a:t>Action  1</a:t>
            </a:r>
            <a:r>
              <a:rPr lang="en-GB" sz="1400" dirty="0"/>
              <a:t>) Server will send that player this message automatically  “Landing player (Name ----) wants to consult with you”. Click screen to get question, no Boffins allowed to help.</a:t>
            </a:r>
          </a:p>
          <a:p>
            <a:endParaRPr lang="en-GB" sz="1400" dirty="0"/>
          </a:p>
          <a:p>
            <a:r>
              <a:rPr lang="en-GB" sz="1400" dirty="0">
                <a:highlight>
                  <a:srgbClr val="FFFF00"/>
                </a:highlight>
              </a:rPr>
              <a:t>Action 2a) </a:t>
            </a:r>
            <a:r>
              <a:rPr lang="en-GB" sz="1400" dirty="0"/>
              <a:t>Then they  will get sponsored question on screen for 20 seconds, which will be read only to them. All other players will be presented with sponsor’s advert, whilst Landing  players move is active. In this time other players can choose to select to check own Game Account Folder contents.</a:t>
            </a:r>
            <a:r>
              <a:rPr lang="en-GB" sz="1400" dirty="0">
                <a:highlight>
                  <a:srgbClr val="FFFF00"/>
                </a:highlight>
              </a:rPr>
              <a:t> </a:t>
            </a:r>
          </a:p>
          <a:p>
            <a:endParaRPr lang="en-GB" sz="1400" dirty="0">
              <a:highlight>
                <a:srgbClr val="FFFF00"/>
              </a:highlight>
            </a:endParaRPr>
          </a:p>
          <a:p>
            <a:r>
              <a:rPr lang="en-GB" sz="1400" dirty="0">
                <a:highlight>
                  <a:srgbClr val="FFFF00"/>
                </a:highlight>
              </a:rPr>
              <a:t>Action 2b</a:t>
            </a:r>
            <a:r>
              <a:rPr lang="en-GB" sz="1400" dirty="0"/>
              <a:t>) On clicking screen that colour banded Company Square Dice will role and display value of question for player of basic 10% value as reward FEE for selecting correct answer to question. </a:t>
            </a:r>
            <a:r>
              <a:rPr lang="en-GB" sz="1400" dirty="0">
                <a:highlight>
                  <a:srgbClr val="FFFF00"/>
                </a:highlight>
              </a:rPr>
              <a:t>Action 2 c) </a:t>
            </a:r>
            <a:r>
              <a:rPr lang="en-GB" sz="1400" dirty="0"/>
              <a:t>Reward that would have been displayed as reward in (Action 2) is reduced too 10% </a:t>
            </a:r>
            <a:r>
              <a:rPr lang="en-GB" sz="1400"/>
              <a:t>of basic value </a:t>
            </a:r>
            <a:r>
              <a:rPr lang="en-GB" sz="1400" dirty="0"/>
              <a:t>only.</a:t>
            </a: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 In this time other players can choose to select to check own Game Account Folder contents.</a:t>
            </a:r>
            <a:r>
              <a:rPr kumimoji="0" lang="en-GB" sz="1400" b="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rPr>
              <a:t> </a:t>
            </a:r>
            <a:endParaRPr lang="en-GB" sz="1400" dirty="0"/>
          </a:p>
          <a:p>
            <a:endParaRPr lang="en-GB" sz="1400" dirty="0"/>
          </a:p>
          <a:p>
            <a:r>
              <a:rPr lang="en-GB" sz="1400" dirty="0">
                <a:highlight>
                  <a:srgbClr val="FFFF00"/>
                </a:highlight>
              </a:rPr>
              <a:t>Action 2c </a:t>
            </a:r>
            <a:r>
              <a:rPr lang="en-GB" sz="1400" dirty="0"/>
              <a:t>If player selects correct answer in allocated time, their Game Account is credited with value of HECUs and move ends and passes to next player in turn.</a:t>
            </a:r>
          </a:p>
          <a:p>
            <a:endParaRPr lang="en-GB" sz="1400" dirty="0"/>
          </a:p>
          <a:p>
            <a:r>
              <a:rPr lang="en-GB" sz="1400" dirty="0">
                <a:highlight>
                  <a:srgbClr val="00FFFF"/>
                </a:highlight>
              </a:rPr>
              <a:t>Action 4a) </a:t>
            </a:r>
            <a:r>
              <a:rPr lang="en-GB" sz="1400" dirty="0"/>
              <a:t>If player selects wrong answer, message appears “Bad Consultation advise” this appears on all players screens, as warning of poor knowledge given.  Landing player is compensated with 3 x Consultation FEE value of HECUs  which is credited to there  Game Account for the poor help given with question answer and their go ends. Play moves to next player in turn.</a:t>
            </a:r>
            <a:endParaRPr lang="en-GB" dirty="0"/>
          </a:p>
          <a:p>
            <a:endParaRPr lang="en-GB" sz="1400" dirty="0"/>
          </a:p>
          <a:p>
            <a:endParaRPr lang="en-GB" sz="1400" dirty="0"/>
          </a:p>
          <a:p>
            <a:endParaRPr lang="en-GB" sz="1400" dirty="0"/>
          </a:p>
          <a:p>
            <a:endParaRPr lang="en-GB" sz="1400" i="1" dirty="0">
              <a:solidFill>
                <a:srgbClr val="002060"/>
              </a:solidFill>
            </a:endParaRPr>
          </a:p>
        </p:txBody>
      </p:sp>
    </p:spTree>
    <p:extLst>
      <p:ext uri="{BB962C8B-B14F-4D97-AF65-F5344CB8AC3E}">
        <p14:creationId xmlns:p14="http://schemas.microsoft.com/office/powerpoint/2010/main" val="2519623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1409</Words>
  <Application>Microsoft Office PowerPoint</Application>
  <PresentationFormat>Widescreen</PresentationFormat>
  <Paragraphs>50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Street-Phillips</dc:creator>
  <cp:lastModifiedBy>Peter Street-Phillips</cp:lastModifiedBy>
  <cp:revision>2</cp:revision>
  <dcterms:created xsi:type="dcterms:W3CDTF">2026-07-26T17:59:08Z</dcterms:created>
  <dcterms:modified xsi:type="dcterms:W3CDTF">2026-07-26T23:02:22Z</dcterms:modified>
</cp:coreProperties>
</file>